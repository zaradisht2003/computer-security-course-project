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 Medium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Italic.fntdata"/><Relationship Id="rId11" Type="http://schemas.openxmlformats.org/officeDocument/2006/relationships/slide" Target="slides/slide6.xml"/><Relationship Id="rId22" Type="http://schemas.openxmlformats.org/officeDocument/2006/relationships/font" Target="fonts/Urbanist-bold.fntdata"/><Relationship Id="rId10" Type="http://schemas.openxmlformats.org/officeDocument/2006/relationships/slide" Target="slides/slide5.xml"/><Relationship Id="rId21" Type="http://schemas.openxmlformats.org/officeDocument/2006/relationships/font" Target="fonts/Urbanist-regular.fntdata"/><Relationship Id="rId13" Type="http://schemas.openxmlformats.org/officeDocument/2006/relationships/slide" Target="slides/slide8.xml"/><Relationship Id="rId24" Type="http://schemas.openxmlformats.org/officeDocument/2006/relationships/font" Target="fonts/Urbanist-boldItalic.fntdata"/><Relationship Id="rId12" Type="http://schemas.openxmlformats.org/officeDocument/2006/relationships/slide" Target="slides/slide7.xml"/><Relationship Id="rId23" Type="http://schemas.openxmlformats.org/officeDocument/2006/relationships/font" Target="fonts/Urbanis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Medium-italic.fntdata"/><Relationship Id="rId6" Type="http://schemas.openxmlformats.org/officeDocument/2006/relationships/slide" Target="slides/slide1.xml"/><Relationship Id="rId18" Type="http://schemas.openxmlformats.org/officeDocument/2006/relationships/font" Target="fonts/UrbanistMedium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28663863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286638637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11" Type="http://schemas.openxmlformats.org/officeDocument/2006/relationships/image" Target="../media/image5.png"/><Relationship Id="rId10" Type="http://schemas.openxmlformats.org/officeDocument/2006/relationships/image" Target="../media/image4.png"/><Relationship Id="rId12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Relationship Id="rId7" Type="http://schemas.openxmlformats.org/officeDocument/2006/relationships/image" Target="../media/image15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10" Type="http://schemas.openxmlformats.org/officeDocument/2006/relationships/image" Target="../media/image26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18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32.png"/><Relationship Id="rId5" Type="http://schemas.openxmlformats.org/officeDocument/2006/relationships/image" Target="../media/image19.png"/><Relationship Id="rId6" Type="http://schemas.openxmlformats.org/officeDocument/2006/relationships/image" Target="../media/image25.png"/><Relationship Id="rId7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8125" y="2453580"/>
            <a:ext cx="117157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Image Encryption &amp;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Statistical Randomness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4110930"/>
            <a:ext cx="7620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Comprehensive Evaluation of AES, RSA, and the NIST STS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381125"/>
            <a:ext cx="355595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381125"/>
            <a:ext cx="355595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59650" y="1381125"/>
            <a:ext cx="355595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6764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71525" y="2438400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AES Encryption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2905125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Securing a payload using a 128-bit key across ECB, CBC, CFB, and OFB block modes.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16764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4613225" y="2438400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RSA Signature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613225" y="2905125"/>
            <a:ext cx="296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Hashing the ciphertext via SHA-1 and guaranteeing authenticity with a 2048-bit RSA key pair.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54925" y="167640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8454925" y="2438400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NIST Evaluation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454925" y="2905125"/>
            <a:ext cx="2965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Mathematically validating entropy using the official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NIST Statistical Test Suite.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7262" y="18478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70387" y="18478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2088" y="18478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Three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Core Pillars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81125"/>
            <a:ext cx="53816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13811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 selected a standard .bmp image as our plaintext baseline.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62000" y="21812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To preserve visual rendering, we stripped the 54-byte BMP header before applying the AES cipher.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29813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raw pixel body was padded and encrypted using AES-128.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37814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Reattaching the header produced viewable ciphertexts, allowing us to physically inspect diffusion.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390650"/>
            <a:ext cx="536257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14335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22336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0337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3833812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Task 1: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AES Encryption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381125"/>
            <a:ext cx="11239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476250" y="476250"/>
            <a:ext cx="11715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22860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AES Encryption Results</a:t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050" y="1382962"/>
            <a:ext cx="11715899" cy="3806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476250" y="1976437"/>
            <a:ext cx="2971502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447752" y="1976437"/>
            <a:ext cx="299546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443216" y="1976437"/>
            <a:ext cx="208493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/>
          <p:nvPr/>
        </p:nvSpPr>
        <p:spPr>
          <a:xfrm>
            <a:off x="8528149" y="1976437"/>
            <a:ext cx="31876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476250" y="2509837"/>
            <a:ext cx="2971502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3447752" y="2509837"/>
            <a:ext cx="299546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443216" y="2509837"/>
            <a:ext cx="208493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8528149" y="2509837"/>
            <a:ext cx="31876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476250" y="3043237"/>
            <a:ext cx="2971502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447752" y="3043237"/>
            <a:ext cx="299546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6443216" y="3043237"/>
            <a:ext cx="208493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8528149" y="3043237"/>
            <a:ext cx="31876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76250" y="3576637"/>
            <a:ext cx="2971502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3447752" y="3576637"/>
            <a:ext cx="299546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443216" y="3576637"/>
            <a:ext cx="208493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8528149" y="3576637"/>
            <a:ext cx="31876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476250" y="4110037"/>
            <a:ext cx="2971502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447752" y="4110037"/>
            <a:ext cx="299546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443216" y="4110037"/>
            <a:ext cx="208493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8528149" y="4110037"/>
            <a:ext cx="318760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352" y="27051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352" y="32385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1816" y="3771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1816" y="27051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1816" y="32385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1816" y="21717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6352" y="21717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352" y="3771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6352" y="21717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1816" y="21717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352" y="27051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1816" y="27051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352" y="32385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1816" y="32385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76352" y="37719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1816" y="37719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AES Block Modes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Compared</a:t>
            </a:r>
            <a:endParaRPr/>
          </a:p>
        </p:txBody>
      </p:sp>
      <p:pic>
        <p:nvPicPr>
          <p:cNvPr id="174" name="Google Shape;17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800" y="1890713"/>
            <a:ext cx="11391950" cy="2847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99627" y="4406352"/>
            <a:ext cx="777125" cy="2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3125" y="1228725"/>
            <a:ext cx="6036525" cy="33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762000" y="13811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Key Generation: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Created a robust 2048-bit RSA Public/Private key pair.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62000" y="21812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Hashing: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Computed a SHA-1 hash for the CBC-encrypted image payload.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62000" y="29813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Signing: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Encrypted the hash with the private key (PKCS#1 v1.5 padding).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62000" y="3781425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Verification: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The public key successfully decrypted the hash, confirming absolute data integrity.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390650"/>
            <a:ext cx="49530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6250" y="14335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6250" y="2233612"/>
            <a:ext cx="1619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250" y="3033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76250" y="38338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Task 2: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RSA Signature</a:t>
            </a:r>
            <a:endParaRPr/>
          </a:p>
        </p:txBody>
      </p:sp>
      <p:pic>
        <p:nvPicPr>
          <p:cNvPr id="192" name="Google Shape;192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53125" y="1307625"/>
            <a:ext cx="6036524" cy="3292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238125" y="2601217"/>
            <a:ext cx="117157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Task 3: </a:t>
            </a:r>
            <a:r>
              <a:rPr b="1" i="0" lang="en-US" sz="48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NIST STS Evaluation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619750" y="3629917"/>
            <a:ext cx="952500" cy="476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2286000" y="3963292"/>
            <a:ext cx="7620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Validating ciphertext entropy using the official 15-test governmental standard.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90800" y="1295275"/>
            <a:ext cx="53817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3.09</a:t>
            </a:r>
            <a:r>
              <a:rPr b="1" i="0" lang="en-US" sz="8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%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0800" y="2438275"/>
            <a:ext cx="538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Original Image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90800" y="2952625"/>
            <a:ext cx="538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Spectacularly failed randomness tests due to structural predictability and repeating pixel patterns.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446550" y="138225"/>
            <a:ext cx="53817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98.94</a:t>
            </a:r>
            <a:r>
              <a:rPr b="1" i="0" lang="en-US" sz="8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%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446550" y="1281225"/>
            <a:ext cx="538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AES-</a:t>
            </a:r>
            <a:r>
              <a:rPr b="1" lang="en-US" sz="2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CBC</a:t>
            </a: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446550" y="1795575"/>
            <a:ext cx="538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ffectively scatters bits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476250" y="476250"/>
            <a:ext cx="5970300" cy="12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NIST Statistical </a:t>
            </a:r>
            <a:r>
              <a:rPr b="1" lang="en-US" sz="37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Pass Rates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75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243200" y="4143525"/>
            <a:ext cx="53817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0.62%</a:t>
            </a:r>
            <a:r>
              <a:rPr b="1" i="0" lang="en-US" sz="8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%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243200" y="5286525"/>
            <a:ext cx="538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AEC-ECB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243200" y="5800875"/>
            <a:ext cx="538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It preserved patterns from the original image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6257825" y="4250125"/>
            <a:ext cx="53817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99.47</a:t>
            </a:r>
            <a:r>
              <a:rPr b="1" i="0" lang="en-US" sz="8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%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257825" y="5393125"/>
            <a:ext cx="538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AES-OFB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257825" y="5907475"/>
            <a:ext cx="5381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Spectacularly failed randomness tests due to structural predictability and repeating pixel patterns.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0.62%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518625" y="2194175"/>
            <a:ext cx="53817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98.94</a:t>
            </a:r>
            <a:r>
              <a:rPr b="1" i="0" lang="en-US" sz="8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%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518625" y="3337175"/>
            <a:ext cx="538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AES-</a:t>
            </a:r>
            <a:r>
              <a:rPr b="1" lang="en-US" sz="2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CFB</a:t>
            </a: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518625" y="3851525"/>
            <a:ext cx="5381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ffectively scatters bits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571500" y="571500"/>
            <a:ext cx="5550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5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Interesting</a:t>
            </a: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Observation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57250" y="1095375"/>
            <a:ext cx="1028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ECB Performs really well and achieves same randomness as other algorithms if the image has many </a:t>
            </a:r>
            <a:endParaRPr/>
          </a:p>
        </p:txBody>
      </p:sp>
      <p:pic>
        <p:nvPicPr>
          <p:cNvPr descr="image.png" id="230" name="Google Shape;2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95387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925" y="1896425"/>
            <a:ext cx="11114150" cy="46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1619250" y="1381125"/>
            <a:ext cx="923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CBC, CFB, and OFB are the clear winners.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By utilizing Initialization Vectors and chaining mechanisms, they achieve maximum cryptographic diffusion.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619250" y="2181225"/>
            <a:ext cx="923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Math matches reality.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The encrypted outputs are statistically indistinguishable from true random white noise, passing ~99% of tests.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1619250" y="2981325"/>
            <a:ext cx="923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ECB </a:t>
            </a:r>
            <a:r>
              <a:rPr b="1"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can be used in case an image has many details 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619250" y="3781425"/>
            <a:ext cx="923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Authentication is critical.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Implementing RSA signatures over SHA-1 guarantees that the randomized ciphertext has not been tampered with in transit.</a:t>
            </a:r>
            <a:endParaRPr/>
          </a:p>
        </p:txBody>
      </p:sp>
      <p:pic>
        <p:nvPicPr>
          <p:cNvPr descr="image.png" id="241" name="Google Shape;24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14335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2336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033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38338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Final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238125" y="2545109"/>
            <a:ext cx="117157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476250" y="3773834"/>
            <a:ext cx="112395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